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heddar" charset="1" panose="00000000000000000000"/>
      <p:regular r:id="rId21"/>
    </p:embeddedFont>
    <p:embeddedFont>
      <p:font typeface="Roboto Bold" charset="1" panose="02000000000000000000"/>
      <p:regular r:id="rId22"/>
    </p:embeddedFont>
    <p:embeddedFont>
      <p:font typeface="Roboto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17" r="0" b="-606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5863" y="349887"/>
            <a:ext cx="16513437" cy="9164958"/>
          </a:xfrm>
          <a:custGeom>
            <a:avLst/>
            <a:gdLst/>
            <a:ahLst/>
            <a:cxnLst/>
            <a:rect r="r" b="b" t="t" l="l"/>
            <a:pathLst>
              <a:path h="9164958" w="16513437">
                <a:moveTo>
                  <a:pt x="0" y="0"/>
                </a:moveTo>
                <a:lnTo>
                  <a:pt x="16513437" y="0"/>
                </a:lnTo>
                <a:lnTo>
                  <a:pt x="16513437" y="9164958"/>
                </a:lnTo>
                <a:lnTo>
                  <a:pt x="0" y="9164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9493" y="3464949"/>
            <a:ext cx="3857812" cy="8001730"/>
          </a:xfrm>
          <a:custGeom>
            <a:avLst/>
            <a:gdLst/>
            <a:ahLst/>
            <a:cxnLst/>
            <a:rect r="r" b="b" t="t" l="l"/>
            <a:pathLst>
              <a:path h="8001730" w="3857812">
                <a:moveTo>
                  <a:pt x="0" y="0"/>
                </a:moveTo>
                <a:lnTo>
                  <a:pt x="3857813" y="0"/>
                </a:lnTo>
                <a:lnTo>
                  <a:pt x="3857813" y="8001730"/>
                </a:lnTo>
                <a:lnTo>
                  <a:pt x="0" y="8001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120694" y="5815348"/>
            <a:ext cx="3857812" cy="8001730"/>
          </a:xfrm>
          <a:custGeom>
            <a:avLst/>
            <a:gdLst/>
            <a:ahLst/>
            <a:cxnLst/>
            <a:rect r="r" b="b" t="t" l="l"/>
            <a:pathLst>
              <a:path h="8001730" w="3857812">
                <a:moveTo>
                  <a:pt x="3857813" y="0"/>
                </a:moveTo>
                <a:lnTo>
                  <a:pt x="0" y="0"/>
                </a:lnTo>
                <a:lnTo>
                  <a:pt x="0" y="8001731"/>
                </a:lnTo>
                <a:lnTo>
                  <a:pt x="3857813" y="8001731"/>
                </a:lnTo>
                <a:lnTo>
                  <a:pt x="385781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9493" y="1028700"/>
            <a:ext cx="6453274" cy="5176063"/>
          </a:xfrm>
          <a:custGeom>
            <a:avLst/>
            <a:gdLst/>
            <a:ahLst/>
            <a:cxnLst/>
            <a:rect r="r" b="b" t="t" l="l"/>
            <a:pathLst>
              <a:path h="5176063" w="6453274">
                <a:moveTo>
                  <a:pt x="0" y="0"/>
                </a:moveTo>
                <a:lnTo>
                  <a:pt x="6453274" y="0"/>
                </a:lnTo>
                <a:lnTo>
                  <a:pt x="6453274" y="5176063"/>
                </a:lnTo>
                <a:lnTo>
                  <a:pt x="0" y="5176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25233" y="3227317"/>
            <a:ext cx="6453274" cy="5176063"/>
          </a:xfrm>
          <a:custGeom>
            <a:avLst/>
            <a:gdLst/>
            <a:ahLst/>
            <a:cxnLst/>
            <a:rect r="r" b="b" t="t" l="l"/>
            <a:pathLst>
              <a:path h="5176063" w="6453274">
                <a:moveTo>
                  <a:pt x="0" y="0"/>
                </a:moveTo>
                <a:lnTo>
                  <a:pt x="6453274" y="0"/>
                </a:lnTo>
                <a:lnTo>
                  <a:pt x="6453274" y="5176063"/>
                </a:lnTo>
                <a:lnTo>
                  <a:pt x="0" y="5176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311" y="87245"/>
            <a:ext cx="4022994" cy="941455"/>
          </a:xfrm>
          <a:custGeom>
            <a:avLst/>
            <a:gdLst/>
            <a:ahLst/>
            <a:cxnLst/>
            <a:rect r="r" b="b" t="t" l="l"/>
            <a:pathLst>
              <a:path h="941455" w="4022994">
                <a:moveTo>
                  <a:pt x="0" y="0"/>
                </a:moveTo>
                <a:lnTo>
                  <a:pt x="4022995" y="0"/>
                </a:lnTo>
                <a:lnTo>
                  <a:pt x="4022995" y="941455"/>
                </a:lnTo>
                <a:lnTo>
                  <a:pt x="0" y="9414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763" r="0" b="-376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71653" y="2875938"/>
            <a:ext cx="8744694" cy="168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3"/>
              </a:lnSpc>
            </a:pPr>
            <a:r>
              <a:rPr lang="en-US" sz="12370" spc="-43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CYBERGUARD PRO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13253" y="402821"/>
            <a:ext cx="4778657" cy="10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</a:pPr>
            <a:r>
              <a:rPr lang="en-US" b="true" sz="291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CYBER SECURITY AND FORENSICS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96114" y="4500400"/>
            <a:ext cx="6812936" cy="10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5"/>
              </a:lnSpc>
            </a:pPr>
            <a:r>
              <a:rPr lang="en-US" b="true" sz="291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FACULTY GUIDES: DR. AMOL RAJMANE AND PRAMOD DHARMADHIKARI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028700" y="-939121"/>
            <a:ext cx="8257221" cy="8257221"/>
          </a:xfrm>
          <a:custGeom>
            <a:avLst/>
            <a:gdLst/>
            <a:ahLst/>
            <a:cxnLst/>
            <a:rect r="r" b="b" t="t" l="l"/>
            <a:pathLst>
              <a:path h="8257221" w="8257221">
                <a:moveTo>
                  <a:pt x="0" y="0"/>
                </a:moveTo>
                <a:lnTo>
                  <a:pt x="8257221" y="0"/>
                </a:lnTo>
                <a:lnTo>
                  <a:pt x="8257221" y="8257220"/>
                </a:lnTo>
                <a:lnTo>
                  <a:pt x="0" y="8257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0"/>
            <a:ext cx="7930342" cy="10287000"/>
          </a:xfrm>
          <a:custGeom>
            <a:avLst/>
            <a:gdLst/>
            <a:ahLst/>
            <a:cxnLst/>
            <a:rect r="r" b="b" t="t" l="l"/>
            <a:pathLst>
              <a:path h="10287000" w="7930342">
                <a:moveTo>
                  <a:pt x="0" y="0"/>
                </a:moveTo>
                <a:lnTo>
                  <a:pt x="7930342" y="0"/>
                </a:lnTo>
                <a:lnTo>
                  <a:pt x="79303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57310" y="1143000"/>
            <a:ext cx="7291946" cy="97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TEAM MEMBERS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6122" y="2806012"/>
            <a:ext cx="8403809" cy="469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</a:pPr>
            <a:r>
              <a:rPr lang="en-US" sz="344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SHUBH DAS - 202301040252</a:t>
            </a:r>
          </a:p>
          <a:p>
            <a:pPr algn="l">
              <a:lnSpc>
                <a:spcPts val="3752"/>
              </a:lnSpc>
            </a:pPr>
          </a:p>
          <a:p>
            <a:pPr algn="l">
              <a:lnSpc>
                <a:spcPts val="3752"/>
              </a:lnSpc>
            </a:pPr>
            <a:r>
              <a:rPr lang="en-US" sz="344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Abhishek Verma - 202301040047</a:t>
            </a:r>
          </a:p>
          <a:p>
            <a:pPr algn="l">
              <a:lnSpc>
                <a:spcPts val="3752"/>
              </a:lnSpc>
            </a:pPr>
          </a:p>
          <a:p>
            <a:pPr algn="l">
              <a:lnSpc>
                <a:spcPts val="3752"/>
              </a:lnSpc>
            </a:pPr>
            <a:r>
              <a:rPr lang="en-US" sz="344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Piyush Dembda - 202301040144</a:t>
            </a:r>
          </a:p>
          <a:p>
            <a:pPr algn="l">
              <a:lnSpc>
                <a:spcPts val="3752"/>
              </a:lnSpc>
            </a:pPr>
            <a:r>
              <a:rPr lang="en-US" sz="344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l">
              <a:lnSpc>
                <a:spcPts val="3752"/>
              </a:lnSpc>
            </a:pPr>
            <a:r>
              <a:rPr lang="en-US" sz="344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Omkar gavali - 202301040045</a:t>
            </a:r>
          </a:p>
          <a:p>
            <a:pPr algn="l">
              <a:lnSpc>
                <a:spcPts val="3752"/>
              </a:lnSpc>
            </a:pPr>
          </a:p>
          <a:p>
            <a:pPr algn="l">
              <a:lnSpc>
                <a:spcPts val="3752"/>
              </a:lnSpc>
            </a:pPr>
            <a:r>
              <a:rPr lang="en-US" sz="344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jyotiraditya ukey - 202301040061</a:t>
            </a:r>
          </a:p>
          <a:p>
            <a:pPr algn="l">
              <a:lnSpc>
                <a:spcPts val="375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87882"/>
            <a:ext cx="10923282" cy="586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7"/>
              </a:lnSpc>
            </a:pPr>
            <a:r>
              <a:rPr lang="en-US" sz="2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 today’s digital world, organizations heavily depend on websites, </a:t>
            </a:r>
          </a:p>
          <a:p>
            <a:pPr algn="just">
              <a:lnSpc>
                <a:spcPts val="3657"/>
              </a:lnSpc>
            </a:pPr>
            <a:r>
              <a:rPr lang="en-US" sz="2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cloud systems, emails, and online services. As technology grows, cyber threats are also evolving rapidly.</a:t>
            </a:r>
          </a:p>
          <a:p>
            <a:pPr algn="just">
              <a:lnSpc>
                <a:spcPts val="3657"/>
              </a:lnSpc>
            </a:pPr>
            <a:r>
              <a:rPr lang="en-US" sz="2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 day, companies face attacks such as:</a:t>
            </a:r>
          </a:p>
          <a:p>
            <a:pPr algn="just" marL="563983" indent="-281992" lvl="1">
              <a:lnSpc>
                <a:spcPts val="3657"/>
              </a:lnSpc>
              <a:buFont typeface="Arial"/>
              <a:buChar char="•"/>
            </a:pPr>
            <a:r>
              <a:rPr lang="en-US" sz="2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Phishing emails</a:t>
            </a:r>
          </a:p>
          <a:p>
            <a:pPr algn="just" marL="563983" indent="-281992" lvl="1">
              <a:lnSpc>
                <a:spcPts val="3657"/>
              </a:lnSpc>
              <a:buFont typeface="Arial"/>
              <a:buChar char="•"/>
            </a:pPr>
            <a:r>
              <a:rPr lang="en-US" sz="2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Ransomware attacks</a:t>
            </a:r>
          </a:p>
          <a:p>
            <a:pPr algn="just" marL="563983" indent="-281992" lvl="1">
              <a:lnSpc>
                <a:spcPts val="3657"/>
              </a:lnSpc>
              <a:buFont typeface="Arial"/>
              <a:buChar char="•"/>
            </a:pPr>
            <a:r>
              <a:rPr lang="en-US" sz="2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Website vulnerabilities</a:t>
            </a:r>
          </a:p>
          <a:p>
            <a:pPr algn="just" marL="563983" indent="-281992" lvl="1">
              <a:lnSpc>
                <a:spcPts val="3657"/>
              </a:lnSpc>
              <a:buFont typeface="Arial"/>
              <a:buChar char="•"/>
            </a:pPr>
            <a:r>
              <a:rPr lang="en-US" sz="2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breaches</a:t>
            </a:r>
          </a:p>
          <a:p>
            <a:pPr algn="just" marL="563983" indent="-281992" lvl="1">
              <a:lnSpc>
                <a:spcPts val="3657"/>
              </a:lnSpc>
              <a:buFont typeface="Arial"/>
              <a:buChar char="•"/>
            </a:pPr>
            <a:r>
              <a:rPr lang="en-US" sz="2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Password leaks</a:t>
            </a:r>
          </a:p>
          <a:p>
            <a:pPr algn="just" marL="563983" indent="-281992" lvl="1">
              <a:lnSpc>
                <a:spcPts val="3657"/>
              </a:lnSpc>
              <a:buFont typeface="Arial"/>
              <a:buChar char="•"/>
            </a:pPr>
            <a:r>
              <a:rPr lang="en-US" sz="2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Malware infections</a:t>
            </a:r>
          </a:p>
          <a:p>
            <a:pPr algn="just">
              <a:lnSpc>
                <a:spcPts val="3657"/>
              </a:lnSpc>
            </a:pPr>
            <a:r>
              <a:rPr lang="en-US" sz="26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Security analysts often need to use multiple disconnected tools to investigate these threats, making the process slow and inefficient.</a:t>
            </a:r>
          </a:p>
          <a:p>
            <a:pPr algn="just" marL="0" indent="0" lvl="1">
              <a:lnSpc>
                <a:spcPts val="294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3129530" y="-320556"/>
            <a:ext cx="5158470" cy="8344583"/>
          </a:xfrm>
          <a:custGeom>
            <a:avLst/>
            <a:gdLst/>
            <a:ahLst/>
            <a:cxnLst/>
            <a:rect r="r" b="b" t="t" l="l"/>
            <a:pathLst>
              <a:path h="8344583" w="5158470">
                <a:moveTo>
                  <a:pt x="0" y="0"/>
                </a:moveTo>
                <a:lnTo>
                  <a:pt x="5158470" y="0"/>
                </a:lnTo>
                <a:lnTo>
                  <a:pt x="5158470" y="8344584"/>
                </a:lnTo>
                <a:lnTo>
                  <a:pt x="0" y="8344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71767"/>
            <a:ext cx="7843253" cy="17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THE GROWING CYBERSECURITY CHALLENGE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18243"/>
            <a:ext cx="8463561" cy="67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5595"/>
              </a:lnSpc>
              <a:spcBef>
                <a:spcPct val="0"/>
              </a:spcBef>
            </a:pPr>
            <a:r>
              <a:rPr lang="en-US" b="true" sz="399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Why Cyber Security Matters Today?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75883" y="1578040"/>
            <a:ext cx="7291946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OBJECTIVES AND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15531" y="2634013"/>
            <a:ext cx="8847409" cy="4455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5"/>
              </a:lnSpc>
            </a:pPr>
            <a:r>
              <a:rPr lang="en-US" sz="289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Objectives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 a Flask-based </a:t>
            </a:r>
          </a:p>
          <a:p>
            <a:pPr algn="just">
              <a:lnSpc>
                <a:spcPts val="3495"/>
              </a:lnSpc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cybersecurity dashboard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Integrate multiple security</a:t>
            </a:r>
          </a:p>
          <a:p>
            <a:pPr algn="just">
              <a:lnSpc>
                <a:spcPts val="3495"/>
              </a:lnSpc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modules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Generate automated </a:t>
            </a:r>
          </a:p>
          <a:p>
            <a:pPr algn="just">
              <a:lnSpc>
                <a:spcPts val="3495"/>
              </a:lnSpc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PDF reports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 ethical and authorized</a:t>
            </a:r>
          </a:p>
          <a:p>
            <a:pPr algn="just">
              <a:lnSpc>
                <a:spcPts val="3495"/>
              </a:lnSpc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testing methods</a:t>
            </a:r>
          </a:p>
          <a:p>
            <a:pPr algn="just" marL="0" indent="0" lvl="1">
              <a:lnSpc>
                <a:spcPts val="3495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875883" y="2634013"/>
            <a:ext cx="4039071" cy="446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5"/>
              </a:lnSpc>
            </a:pPr>
            <a:r>
              <a:rPr lang="en-US" sz="299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Scope</a:t>
            </a:r>
          </a:p>
          <a:p>
            <a:pPr algn="just">
              <a:lnSpc>
                <a:spcPts val="3495"/>
              </a:lnSpc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CyberGuard Pro covers: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OSINT Reconnaissance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 Security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Threat Intelligence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Web Security Auditing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Digital Forensics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Phishing Detection</a:t>
            </a:r>
          </a:p>
          <a:p>
            <a:pPr algn="just" marL="539050" indent="-269525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Password Analysis</a:t>
            </a:r>
          </a:p>
          <a:p>
            <a:pPr algn="just" marL="0" indent="0" lvl="1">
              <a:lnSpc>
                <a:spcPts val="3495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686892"/>
            <a:ext cx="10988834" cy="7432062"/>
          </a:xfrm>
          <a:custGeom>
            <a:avLst/>
            <a:gdLst/>
            <a:ahLst/>
            <a:cxnLst/>
            <a:rect r="r" b="b" t="t" l="l"/>
            <a:pathLst>
              <a:path h="7432062" w="10988834">
                <a:moveTo>
                  <a:pt x="0" y="0"/>
                </a:moveTo>
                <a:lnTo>
                  <a:pt x="10988834" y="0"/>
                </a:lnTo>
                <a:lnTo>
                  <a:pt x="10988834" y="7432062"/>
                </a:lnTo>
                <a:lnTo>
                  <a:pt x="0" y="743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0465" y="4045159"/>
            <a:ext cx="5565427" cy="4964930"/>
          </a:xfrm>
          <a:custGeom>
            <a:avLst/>
            <a:gdLst/>
            <a:ahLst/>
            <a:cxnLst/>
            <a:rect r="r" b="b" t="t" l="l"/>
            <a:pathLst>
              <a:path h="4964930" w="5565427">
                <a:moveTo>
                  <a:pt x="0" y="0"/>
                </a:moveTo>
                <a:lnTo>
                  <a:pt x="5565427" y="0"/>
                </a:lnTo>
                <a:lnTo>
                  <a:pt x="5565427" y="4964930"/>
                </a:lnTo>
                <a:lnTo>
                  <a:pt x="0" y="4964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682" y="0"/>
            <a:ext cx="15875113" cy="10736792"/>
          </a:xfrm>
          <a:custGeom>
            <a:avLst/>
            <a:gdLst/>
            <a:ahLst/>
            <a:cxnLst/>
            <a:rect r="r" b="b" t="t" l="l"/>
            <a:pathLst>
              <a:path h="10736792" w="15875113">
                <a:moveTo>
                  <a:pt x="0" y="0"/>
                </a:moveTo>
                <a:lnTo>
                  <a:pt x="15875113" y="0"/>
                </a:lnTo>
                <a:lnTo>
                  <a:pt x="15875113" y="10736792"/>
                </a:lnTo>
                <a:lnTo>
                  <a:pt x="0" y="107367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684917" y="1947188"/>
            <a:ext cx="6384156" cy="9561705"/>
          </a:xfrm>
          <a:custGeom>
            <a:avLst/>
            <a:gdLst/>
            <a:ahLst/>
            <a:cxnLst/>
            <a:rect r="r" b="b" t="t" l="l"/>
            <a:pathLst>
              <a:path h="9561705" w="6384156">
                <a:moveTo>
                  <a:pt x="6384156" y="0"/>
                </a:moveTo>
                <a:lnTo>
                  <a:pt x="0" y="0"/>
                </a:lnTo>
                <a:lnTo>
                  <a:pt x="0" y="9561705"/>
                </a:lnTo>
                <a:lnTo>
                  <a:pt x="6384156" y="9561705"/>
                </a:lnTo>
                <a:lnTo>
                  <a:pt x="6384156" y="0"/>
                </a:lnTo>
                <a:close/>
              </a:path>
            </a:pathLst>
          </a:custGeom>
          <a:blipFill>
            <a:blip r:embed="rId5"/>
            <a:stretch>
              <a:fillRect l="-2465" t="0" r="-2147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43000"/>
            <a:ext cx="7291946" cy="172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INTRODUCING CYBERGUARD PRO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05073"/>
            <a:ext cx="11656217" cy="611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3"/>
              </a:lnSpc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CyberGuard Pro is a web-based cybersecurity incident response and security analysis toolkit developed using free and open-source technologies.</a:t>
            </a:r>
          </a:p>
          <a:p>
            <a:pPr algn="just">
              <a:lnSpc>
                <a:spcPts val="3733"/>
              </a:lnSpc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platform integrates multiple cybersecurity domains into a single dashboard, allowing analysts to perform:</a:t>
            </a:r>
          </a:p>
          <a:p>
            <a:pPr algn="just" marL="575772" indent="-287886" lvl="1">
              <a:lnSpc>
                <a:spcPts val="3733"/>
              </a:lnSpc>
              <a:buFont typeface="Arial"/>
              <a:buChar char="•"/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OSINT Reconnaissance</a:t>
            </a:r>
          </a:p>
          <a:p>
            <a:pPr algn="just" marL="575772" indent="-287886" lvl="1">
              <a:lnSpc>
                <a:spcPts val="3733"/>
              </a:lnSpc>
              <a:buFont typeface="Arial"/>
              <a:buChar char="•"/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Threat Intelligence</a:t>
            </a:r>
          </a:p>
          <a:p>
            <a:pPr algn="just" marL="575772" indent="-287886" lvl="1">
              <a:lnSpc>
                <a:spcPts val="3733"/>
              </a:lnSpc>
              <a:buFont typeface="Arial"/>
              <a:buChar char="•"/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Web Security Testing</a:t>
            </a:r>
          </a:p>
          <a:p>
            <a:pPr algn="just" marL="575772" indent="-287886" lvl="1">
              <a:lnSpc>
                <a:spcPts val="3733"/>
              </a:lnSpc>
              <a:buFont typeface="Arial"/>
              <a:buChar char="•"/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Digital Forensics</a:t>
            </a:r>
          </a:p>
          <a:p>
            <a:pPr algn="just" marL="575772" indent="-287886" lvl="1">
              <a:lnSpc>
                <a:spcPts val="3733"/>
              </a:lnSpc>
              <a:buFont typeface="Arial"/>
              <a:buChar char="•"/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Phishing Detection</a:t>
            </a:r>
          </a:p>
          <a:p>
            <a:pPr algn="just" marL="575772" indent="-287886" lvl="1">
              <a:lnSpc>
                <a:spcPts val="3733"/>
              </a:lnSpc>
              <a:buFont typeface="Arial"/>
              <a:buChar char="•"/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Password Analysis</a:t>
            </a:r>
          </a:p>
          <a:p>
            <a:pPr algn="just" marL="575772" indent="-287886" lvl="1">
              <a:lnSpc>
                <a:spcPts val="3733"/>
              </a:lnSpc>
              <a:buFont typeface="Arial"/>
              <a:buChar char="•"/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 Security Assessment</a:t>
            </a:r>
          </a:p>
          <a:p>
            <a:pPr algn="just" marL="575772" indent="-287886" lvl="1">
              <a:lnSpc>
                <a:spcPts val="3733"/>
              </a:lnSpc>
              <a:buFont typeface="Arial"/>
              <a:buChar char="•"/>
            </a:pPr>
            <a:r>
              <a:rPr lang="en-US" sz="26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Automated PDF Reporting</a:t>
            </a:r>
          </a:p>
          <a:p>
            <a:pPr algn="just" marL="0" indent="0" lvl="1">
              <a:lnSpc>
                <a:spcPts val="37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7498" y="3220089"/>
            <a:ext cx="9183419" cy="4893783"/>
          </a:xfrm>
          <a:custGeom>
            <a:avLst/>
            <a:gdLst/>
            <a:ahLst/>
            <a:cxnLst/>
            <a:rect r="r" b="b" t="t" l="l"/>
            <a:pathLst>
              <a:path h="4893783" w="9183419">
                <a:moveTo>
                  <a:pt x="0" y="0"/>
                </a:moveTo>
                <a:lnTo>
                  <a:pt x="9183419" y="0"/>
                </a:lnTo>
                <a:lnTo>
                  <a:pt x="9183419" y="4893783"/>
                </a:lnTo>
                <a:lnTo>
                  <a:pt x="0" y="4893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66" t="-1775" r="0" b="-177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838155" y="3952756"/>
            <a:ext cx="3843800" cy="372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17"/>
              </a:lnSpc>
            </a:pPr>
            <a:r>
              <a:rPr lang="en-US" sz="322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Technologies Used</a:t>
            </a:r>
          </a:p>
          <a:p>
            <a:pPr algn="just" marL="546236" indent="-273118" lvl="1">
              <a:lnSpc>
                <a:spcPts val="3542"/>
              </a:lnSpc>
              <a:buFont typeface="Arial"/>
              <a:buChar char="•"/>
            </a:pPr>
            <a:r>
              <a:rPr lang="en-US" b="true" sz="25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Python</a:t>
            </a:r>
          </a:p>
          <a:p>
            <a:pPr algn="just" marL="546236" indent="-273118" lvl="1">
              <a:lnSpc>
                <a:spcPts val="3542"/>
              </a:lnSpc>
              <a:buFont typeface="Arial"/>
              <a:buChar char="•"/>
            </a:pPr>
            <a:r>
              <a:rPr lang="en-US" b="true" sz="25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Flask</a:t>
            </a:r>
          </a:p>
          <a:p>
            <a:pPr algn="just" marL="546236" indent="-273118" lvl="1">
              <a:lnSpc>
                <a:spcPts val="3542"/>
              </a:lnSpc>
              <a:buFont typeface="Arial"/>
              <a:buChar char="•"/>
            </a:pPr>
            <a:r>
              <a:rPr lang="en-US" b="true" sz="25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Bootstrap</a:t>
            </a:r>
          </a:p>
          <a:p>
            <a:pPr algn="just" marL="546236" indent="-273118" lvl="1">
              <a:lnSpc>
                <a:spcPts val="3542"/>
              </a:lnSpc>
              <a:buFont typeface="Arial"/>
              <a:buChar char="•"/>
            </a:pPr>
            <a:r>
              <a:rPr lang="en-US" b="true" sz="25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Chart.js</a:t>
            </a:r>
          </a:p>
          <a:p>
            <a:pPr algn="just" marL="546236" indent="-273118" lvl="1">
              <a:lnSpc>
                <a:spcPts val="3542"/>
              </a:lnSpc>
              <a:buFont typeface="Arial"/>
              <a:buChar char="•"/>
            </a:pPr>
            <a:r>
              <a:rPr lang="en-US" b="true" sz="25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Folium</a:t>
            </a:r>
          </a:p>
          <a:p>
            <a:pPr algn="just" marL="546236" indent="-273118" lvl="1">
              <a:lnSpc>
                <a:spcPts val="3542"/>
              </a:lnSpc>
              <a:buFont typeface="Arial"/>
              <a:buChar char="•"/>
            </a:pPr>
            <a:r>
              <a:rPr lang="en-US" b="true" sz="25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VirusTotal API</a:t>
            </a:r>
          </a:p>
          <a:p>
            <a:pPr algn="just" marL="546236" indent="-273118" lvl="1">
              <a:lnSpc>
                <a:spcPts val="354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Shodan API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0253830" y="3460406"/>
            <a:ext cx="4625302" cy="4625302"/>
          </a:xfrm>
          <a:custGeom>
            <a:avLst/>
            <a:gdLst/>
            <a:ahLst/>
            <a:cxnLst/>
            <a:rect r="r" b="b" t="t" l="l"/>
            <a:pathLst>
              <a:path h="4625302" w="4625302">
                <a:moveTo>
                  <a:pt x="0" y="0"/>
                </a:moveTo>
                <a:lnTo>
                  <a:pt x="4625303" y="0"/>
                </a:lnTo>
                <a:lnTo>
                  <a:pt x="4625303" y="4625303"/>
                </a:lnTo>
                <a:lnTo>
                  <a:pt x="0" y="4625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7498" y="3137366"/>
            <a:ext cx="9183419" cy="5059229"/>
          </a:xfrm>
          <a:custGeom>
            <a:avLst/>
            <a:gdLst/>
            <a:ahLst/>
            <a:cxnLst/>
            <a:rect r="r" b="b" t="t" l="l"/>
            <a:pathLst>
              <a:path h="5059229" w="9183419">
                <a:moveTo>
                  <a:pt x="0" y="0"/>
                </a:moveTo>
                <a:lnTo>
                  <a:pt x="9183419" y="0"/>
                </a:lnTo>
                <a:lnTo>
                  <a:pt x="9183419" y="5059229"/>
                </a:lnTo>
                <a:lnTo>
                  <a:pt x="0" y="5059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2958223" y="-258875"/>
            <a:ext cx="5158470" cy="8344583"/>
          </a:xfrm>
          <a:custGeom>
            <a:avLst/>
            <a:gdLst/>
            <a:ahLst/>
            <a:cxnLst/>
            <a:rect r="r" b="b" t="t" l="l"/>
            <a:pathLst>
              <a:path h="8344583" w="5158470">
                <a:moveTo>
                  <a:pt x="0" y="0"/>
                </a:moveTo>
                <a:lnTo>
                  <a:pt x="5158470" y="0"/>
                </a:lnTo>
                <a:lnTo>
                  <a:pt x="5158470" y="8344584"/>
                </a:lnTo>
                <a:lnTo>
                  <a:pt x="0" y="8344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2149" y="494049"/>
            <a:ext cx="8761851" cy="246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6"/>
              </a:lnSpc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SYSTEM ARCHITECTURE</a:t>
            </a:r>
          </a:p>
          <a:p>
            <a:pPr algn="l">
              <a:lnSpc>
                <a:spcPts val="5906"/>
              </a:lnSpc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Working of CyberGuard Pro</a:t>
            </a:r>
          </a:p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91606" y="114300"/>
            <a:ext cx="11373938" cy="307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CORE MODULES OVERVIEW</a:t>
            </a:r>
          </a:p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Major Modules in </a:t>
            </a:r>
          </a:p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CyberGuard Pro</a:t>
            </a:r>
          </a:p>
          <a:p>
            <a:pPr algn="l" marL="0" indent="0" lvl="1">
              <a:lnSpc>
                <a:spcPts val="566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91606" y="2341277"/>
            <a:ext cx="7291577" cy="849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</a:pPr>
          </a:p>
          <a:p>
            <a:pPr algn="just">
              <a:lnSpc>
                <a:spcPts val="3355"/>
              </a:lnSpc>
            </a:pPr>
            <a:r>
              <a:rPr lang="en-US" sz="23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ModulePurpose</a:t>
            </a:r>
          </a:p>
          <a:p>
            <a:pPr algn="just">
              <a:lnSpc>
                <a:spcPts val="3355"/>
              </a:lnSpc>
            </a:pPr>
          </a:p>
          <a:p>
            <a:pPr algn="just">
              <a:lnSpc>
                <a:spcPts val="2795"/>
              </a:lnSpc>
            </a:pPr>
            <a:r>
              <a:rPr lang="en-US" sz="19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OSINT Reconnaissance: Collects public intelligence about IPs and domains</a:t>
            </a:r>
          </a:p>
          <a:p>
            <a:pPr algn="just">
              <a:lnSpc>
                <a:spcPts val="2795"/>
              </a:lnSpc>
            </a:pPr>
          </a:p>
          <a:p>
            <a:pPr algn="just">
              <a:lnSpc>
                <a:spcPts val="2795"/>
              </a:lnSpc>
            </a:pPr>
            <a:r>
              <a:rPr lang="en-US" sz="19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 Scanner: Detects open ports and exposed services</a:t>
            </a:r>
          </a:p>
          <a:p>
            <a:pPr algn="just">
              <a:lnSpc>
                <a:spcPts val="2795"/>
              </a:lnSpc>
            </a:pPr>
          </a:p>
          <a:p>
            <a:pPr algn="just">
              <a:lnSpc>
                <a:spcPts val="2795"/>
              </a:lnSpc>
            </a:pPr>
            <a:r>
              <a:rPr lang="en-US" sz="19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Threat Intelligence: Analyzes malicious URLs, hashes, and IP reputation</a:t>
            </a:r>
          </a:p>
          <a:p>
            <a:pPr algn="just">
              <a:lnSpc>
                <a:spcPts val="2795"/>
              </a:lnSpc>
            </a:pPr>
          </a:p>
          <a:p>
            <a:pPr algn="just">
              <a:lnSpc>
                <a:spcPts val="2795"/>
              </a:lnSpc>
            </a:pPr>
            <a:r>
              <a:rPr lang="en-US" sz="19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Web Security Auditor: Identifies website security vulnerabilities</a:t>
            </a:r>
          </a:p>
          <a:p>
            <a:pPr algn="just">
              <a:lnSpc>
                <a:spcPts val="2795"/>
              </a:lnSpc>
            </a:pPr>
          </a:p>
          <a:p>
            <a:pPr algn="just">
              <a:lnSpc>
                <a:spcPts val="2795"/>
              </a:lnSpc>
            </a:pPr>
            <a:r>
              <a:rPr lang="en-US" sz="19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Digital Forensics: Performs metadata and hash-based investigation</a:t>
            </a:r>
          </a:p>
          <a:p>
            <a:pPr algn="just">
              <a:lnSpc>
                <a:spcPts val="2795"/>
              </a:lnSpc>
            </a:pPr>
          </a:p>
          <a:p>
            <a:pPr algn="just">
              <a:lnSpc>
                <a:spcPts val="2795"/>
              </a:lnSpc>
            </a:pPr>
            <a:r>
              <a:rPr lang="en-US" sz="19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Phishing Detector: Detects spoofed and suspicious emails</a:t>
            </a:r>
          </a:p>
          <a:p>
            <a:pPr algn="just">
              <a:lnSpc>
                <a:spcPts val="2795"/>
              </a:lnSpc>
            </a:pPr>
          </a:p>
          <a:p>
            <a:pPr algn="just">
              <a:lnSpc>
                <a:spcPts val="2795"/>
              </a:lnSpc>
            </a:pPr>
            <a:r>
              <a:rPr lang="en-US" sz="19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Password Analyzer: Checks password strength and breach exposure</a:t>
            </a:r>
          </a:p>
          <a:p>
            <a:pPr algn="just">
              <a:lnSpc>
                <a:spcPts val="2655"/>
              </a:lnSpc>
            </a:pPr>
          </a:p>
          <a:p>
            <a:pPr algn="just">
              <a:lnSpc>
                <a:spcPts val="2655"/>
              </a:lnSpc>
            </a:pPr>
          </a:p>
          <a:p>
            <a:pPr algn="just">
              <a:lnSpc>
                <a:spcPts val="2655"/>
              </a:lnSpc>
            </a:pPr>
          </a:p>
          <a:p>
            <a:pPr algn="just" marL="0" indent="0" lvl="1">
              <a:lnSpc>
                <a:spcPts val="2655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808784" y="559063"/>
            <a:ext cx="9464882" cy="9464882"/>
          </a:xfrm>
          <a:custGeom>
            <a:avLst/>
            <a:gdLst/>
            <a:ahLst/>
            <a:cxnLst/>
            <a:rect r="r" b="b" t="t" l="l"/>
            <a:pathLst>
              <a:path h="9464882" w="9464882">
                <a:moveTo>
                  <a:pt x="0" y="0"/>
                </a:moveTo>
                <a:lnTo>
                  <a:pt x="9464882" y="0"/>
                </a:lnTo>
                <a:lnTo>
                  <a:pt x="9464882" y="9464882"/>
                </a:lnTo>
                <a:lnTo>
                  <a:pt x="0" y="946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78681" y="3140656"/>
            <a:ext cx="4893393" cy="6883289"/>
          </a:xfrm>
          <a:custGeom>
            <a:avLst/>
            <a:gdLst/>
            <a:ahLst/>
            <a:cxnLst/>
            <a:rect r="r" b="b" t="t" l="l"/>
            <a:pathLst>
              <a:path h="6883289" w="4893393">
                <a:moveTo>
                  <a:pt x="0" y="0"/>
                </a:moveTo>
                <a:lnTo>
                  <a:pt x="4893393" y="0"/>
                </a:lnTo>
                <a:lnTo>
                  <a:pt x="4893393" y="6883289"/>
                </a:lnTo>
                <a:lnTo>
                  <a:pt x="0" y="688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115010">
            <a:off x="10104981" y="-1212257"/>
            <a:ext cx="10851931" cy="7773929"/>
          </a:xfrm>
          <a:custGeom>
            <a:avLst/>
            <a:gdLst/>
            <a:ahLst/>
            <a:cxnLst/>
            <a:rect r="r" b="b" t="t" l="l"/>
            <a:pathLst>
              <a:path h="7773929" w="10851931">
                <a:moveTo>
                  <a:pt x="0" y="0"/>
                </a:moveTo>
                <a:lnTo>
                  <a:pt x="10851931" y="0"/>
                </a:lnTo>
                <a:lnTo>
                  <a:pt x="10851931" y="7773929"/>
                </a:lnTo>
                <a:lnTo>
                  <a:pt x="0" y="77739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527275">
            <a:off x="7212775" y="5240868"/>
            <a:ext cx="13955349" cy="5049299"/>
          </a:xfrm>
          <a:custGeom>
            <a:avLst/>
            <a:gdLst/>
            <a:ahLst/>
            <a:cxnLst/>
            <a:rect r="r" b="b" t="t" l="l"/>
            <a:pathLst>
              <a:path h="5049299" w="13955349">
                <a:moveTo>
                  <a:pt x="0" y="0"/>
                </a:moveTo>
                <a:lnTo>
                  <a:pt x="13955349" y="0"/>
                </a:lnTo>
                <a:lnTo>
                  <a:pt x="13955349" y="5049299"/>
                </a:lnTo>
                <a:lnTo>
                  <a:pt x="0" y="50492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3484" y="458926"/>
            <a:ext cx="12410236" cy="9283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2"/>
              </a:lnSpc>
            </a:pPr>
            <a:r>
              <a:rPr lang="en-US" sz="415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Technologies &amp; APIs Used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 + Flask: Backend development and routing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HTML5 + Bootstrap 5: Frontend user interface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Chart.js: Data visualization and charts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Folium: Interactive IP geolocation maps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Shodan InternetDB: OSINT and service intelligence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VirusTotal API: Malware and URL reputation analysis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AbuseIPDB API: IP abuse reputation checking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PwnedPasswords API: Password breach detection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ExifTool: Metadata extraction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Sleuth Kit: Digital forensic analysis</a:t>
            </a:r>
          </a:p>
          <a:p>
            <a:pPr algn="l">
              <a:lnSpc>
                <a:spcPts val="2958"/>
              </a:lnSpc>
            </a:pPr>
          </a:p>
          <a:p>
            <a:pPr algn="l" marL="456224" indent="-228112" lvl="1">
              <a:lnSpc>
                <a:spcPts val="2958"/>
              </a:lnSpc>
              <a:buFont typeface="Arial"/>
              <a:buChar char="•"/>
            </a:pPr>
            <a:r>
              <a:rPr lang="en-US" sz="21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FPDF2: Automated PDF report generation</a:t>
            </a:r>
          </a:p>
          <a:p>
            <a:pPr algn="l">
              <a:lnSpc>
                <a:spcPts val="295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7115010">
            <a:off x="9244074" y="-2394081"/>
            <a:ext cx="10851931" cy="7773929"/>
          </a:xfrm>
          <a:custGeom>
            <a:avLst/>
            <a:gdLst/>
            <a:ahLst/>
            <a:cxnLst/>
            <a:rect r="r" b="b" t="t" l="l"/>
            <a:pathLst>
              <a:path h="7773929" w="10851931">
                <a:moveTo>
                  <a:pt x="0" y="0"/>
                </a:moveTo>
                <a:lnTo>
                  <a:pt x="10851931" y="0"/>
                </a:lnTo>
                <a:lnTo>
                  <a:pt x="10851931" y="7773929"/>
                </a:lnTo>
                <a:lnTo>
                  <a:pt x="0" y="77739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49818"/>
            <a:ext cx="11373938" cy="236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OSINT + NETWORK SCANNER</a:t>
            </a:r>
          </a:p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Reconnaissance &amp; Network Analysis</a:t>
            </a:r>
          </a:p>
          <a:p>
            <a:pPr algn="l" marL="0" indent="0" lvl="1">
              <a:lnSpc>
                <a:spcPts val="566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735601"/>
            <a:ext cx="6446998" cy="273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38"/>
              </a:lnSpc>
            </a:pPr>
            <a:r>
              <a:rPr lang="en-US" sz="324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OSINT Features</a:t>
            </a:r>
          </a:p>
          <a:p>
            <a:pPr algn="just" marL="505608" indent="-252804" lvl="1">
              <a:lnSpc>
                <a:spcPts val="3278"/>
              </a:lnSpc>
              <a:buFont typeface="Arial"/>
              <a:buChar char="•"/>
            </a:pPr>
            <a:r>
              <a:rPr lang="en-US" b="true" sz="234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WHOIS Lookup</a:t>
            </a:r>
          </a:p>
          <a:p>
            <a:pPr algn="just" marL="505608" indent="-252804" lvl="1">
              <a:lnSpc>
                <a:spcPts val="3278"/>
              </a:lnSpc>
              <a:buFont typeface="Arial"/>
              <a:buChar char="•"/>
            </a:pPr>
            <a:r>
              <a:rPr lang="en-US" b="true" sz="234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DNS Enumeration</a:t>
            </a:r>
          </a:p>
          <a:p>
            <a:pPr algn="just" marL="505608" indent="-252804" lvl="1">
              <a:lnSpc>
                <a:spcPts val="3278"/>
              </a:lnSpc>
              <a:buFont typeface="Arial"/>
              <a:buChar char="•"/>
            </a:pPr>
            <a:r>
              <a:rPr lang="en-US" b="true" sz="234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Shodan Intelligence</a:t>
            </a:r>
          </a:p>
          <a:p>
            <a:pPr algn="just" marL="505608" indent="-252804" lvl="1">
              <a:lnSpc>
                <a:spcPts val="3278"/>
              </a:lnSpc>
              <a:buFont typeface="Arial"/>
              <a:buChar char="•"/>
            </a:pPr>
            <a:r>
              <a:rPr lang="en-US" b="true" sz="234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IP Geolocation Mapping</a:t>
            </a:r>
          </a:p>
          <a:p>
            <a:pPr algn="just" marL="0" indent="0" lvl="1">
              <a:lnSpc>
                <a:spcPts val="425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954810" y="3735601"/>
            <a:ext cx="6446998" cy="253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38"/>
              </a:lnSpc>
            </a:pPr>
            <a:r>
              <a:rPr lang="en-US" sz="324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Network Scanner</a:t>
            </a:r>
          </a:p>
          <a:p>
            <a:pPr algn="just" marL="570376" indent="-285188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Detects active ports</a:t>
            </a:r>
          </a:p>
          <a:p>
            <a:pPr algn="just" marL="570376" indent="-285188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Identifies exposed services</a:t>
            </a:r>
          </a:p>
          <a:p>
            <a:pPr algn="just" marL="570376" indent="-285188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Calculates risk level</a:t>
            </a:r>
          </a:p>
          <a:p>
            <a:pPr algn="just">
              <a:lnSpc>
                <a:spcPts val="4538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09988" y="0"/>
            <a:ext cx="13011361" cy="8799954"/>
          </a:xfrm>
          <a:custGeom>
            <a:avLst/>
            <a:gdLst/>
            <a:ahLst/>
            <a:cxnLst/>
            <a:rect r="r" b="b" t="t" l="l"/>
            <a:pathLst>
              <a:path h="8799954" w="13011361">
                <a:moveTo>
                  <a:pt x="0" y="0"/>
                </a:moveTo>
                <a:lnTo>
                  <a:pt x="13011361" y="0"/>
                </a:lnTo>
                <a:lnTo>
                  <a:pt x="13011361" y="8799954"/>
                </a:lnTo>
                <a:lnTo>
                  <a:pt x="0" y="8799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02986" y="5143500"/>
            <a:ext cx="5569360" cy="5344265"/>
          </a:xfrm>
          <a:custGeom>
            <a:avLst/>
            <a:gdLst/>
            <a:ahLst/>
            <a:cxnLst/>
            <a:rect r="r" b="b" t="t" l="l"/>
            <a:pathLst>
              <a:path h="5344265" w="5569360">
                <a:moveTo>
                  <a:pt x="0" y="0"/>
                </a:moveTo>
                <a:lnTo>
                  <a:pt x="5569360" y="0"/>
                </a:lnTo>
                <a:lnTo>
                  <a:pt x="5569360" y="5344265"/>
                </a:lnTo>
                <a:lnTo>
                  <a:pt x="0" y="53442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3497" y="2147392"/>
            <a:ext cx="11373938" cy="236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DIGITAL FORENSICS + PHISHING DETECTION</a:t>
            </a:r>
          </a:p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Investigation &amp; Email Analysis</a:t>
            </a:r>
          </a:p>
          <a:p>
            <a:pPr algn="l" marL="0" indent="0" lvl="1">
              <a:lnSpc>
                <a:spcPts val="566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363497" y="4255815"/>
            <a:ext cx="4568666" cy="256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b="true" sz="2703" spc="-9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DIGITAL FORENSICS</a:t>
            </a:r>
          </a:p>
          <a:p>
            <a:pPr algn="l" marL="518918" indent="-259459" lvl="1">
              <a:lnSpc>
                <a:spcPts val="3364"/>
              </a:lnSpc>
              <a:buFont typeface="Arial"/>
              <a:buChar char="•"/>
            </a:pPr>
            <a:r>
              <a:rPr lang="en-US" sz="2403" spc="-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EXIF METADATA EXTRACTION</a:t>
            </a:r>
          </a:p>
          <a:p>
            <a:pPr algn="l" marL="518918" indent="-259459" lvl="1">
              <a:lnSpc>
                <a:spcPts val="3364"/>
              </a:lnSpc>
              <a:buFont typeface="Arial"/>
              <a:buChar char="•"/>
            </a:pPr>
            <a:r>
              <a:rPr lang="en-US" sz="2403" spc="-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MD5 / SHA HASH GENERATION</a:t>
            </a:r>
          </a:p>
          <a:p>
            <a:pPr algn="l" marL="518918" indent="-259459" lvl="1">
              <a:lnSpc>
                <a:spcPts val="3364"/>
              </a:lnSpc>
              <a:buFont typeface="Arial"/>
              <a:buChar char="•"/>
            </a:pPr>
            <a:r>
              <a:rPr lang="en-US" sz="2403" spc="-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STRINGS EXTRACTION</a:t>
            </a:r>
          </a:p>
          <a:p>
            <a:pPr algn="l" marL="518918" indent="-259459" lvl="1">
              <a:lnSpc>
                <a:spcPts val="3364"/>
              </a:lnSpc>
              <a:buFont typeface="Arial"/>
              <a:buChar char="•"/>
            </a:pPr>
            <a:r>
              <a:rPr lang="en-US" sz="2403" spc="-8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SLEUTH KIT INTEGRATION</a:t>
            </a:r>
          </a:p>
          <a:p>
            <a:pPr algn="l">
              <a:lnSpc>
                <a:spcPts val="336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394371" y="4255815"/>
            <a:ext cx="4766191" cy="284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b="true" sz="2703" spc="-9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PHISHING DETECTOR</a:t>
            </a:r>
          </a:p>
          <a:p>
            <a:pPr algn="l" marL="583686" indent="-291843" lvl="1">
              <a:lnSpc>
                <a:spcPts val="3784"/>
              </a:lnSpc>
              <a:buFont typeface="Arial"/>
              <a:buChar char="•"/>
            </a:pPr>
            <a:r>
              <a:rPr lang="en-US" sz="2703" spc="-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Email Header Analysis</a:t>
            </a:r>
          </a:p>
          <a:p>
            <a:pPr algn="l" marL="583686" indent="-291843" lvl="1">
              <a:lnSpc>
                <a:spcPts val="3784"/>
              </a:lnSpc>
              <a:buFont typeface="Arial"/>
              <a:buChar char="•"/>
            </a:pPr>
            <a:r>
              <a:rPr lang="en-US" sz="2703" spc="-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SPF &amp; DMARC Verification</a:t>
            </a:r>
          </a:p>
          <a:p>
            <a:pPr algn="l" marL="583686" indent="-291843" lvl="1">
              <a:lnSpc>
                <a:spcPts val="3784"/>
              </a:lnSpc>
              <a:buFont typeface="Arial"/>
              <a:buChar char="•"/>
            </a:pPr>
            <a:r>
              <a:rPr lang="en-US" sz="2703" spc="-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Spoofing Detection</a:t>
            </a:r>
          </a:p>
          <a:p>
            <a:pPr algn="l" marL="583686" indent="-291843" lvl="1">
              <a:lnSpc>
                <a:spcPts val="3784"/>
              </a:lnSpc>
              <a:buFont typeface="Arial"/>
              <a:buChar char="•"/>
            </a:pPr>
            <a:r>
              <a:rPr lang="en-US" sz="2703" spc="-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URL Extraction</a:t>
            </a:r>
          </a:p>
          <a:p>
            <a:pPr algn="l">
              <a:lnSpc>
                <a:spcPts val="3784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69201" y="248056"/>
            <a:ext cx="13011361" cy="8799954"/>
          </a:xfrm>
          <a:custGeom>
            <a:avLst/>
            <a:gdLst/>
            <a:ahLst/>
            <a:cxnLst/>
            <a:rect r="r" b="b" t="t" l="l"/>
            <a:pathLst>
              <a:path h="8799954" w="13011361">
                <a:moveTo>
                  <a:pt x="0" y="0"/>
                </a:moveTo>
                <a:lnTo>
                  <a:pt x="13011361" y="0"/>
                </a:lnTo>
                <a:lnTo>
                  <a:pt x="13011361" y="8799955"/>
                </a:lnTo>
                <a:lnTo>
                  <a:pt x="0" y="87999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37009" y="4255911"/>
            <a:ext cx="4398185" cy="5691769"/>
          </a:xfrm>
          <a:custGeom>
            <a:avLst/>
            <a:gdLst/>
            <a:ahLst/>
            <a:cxnLst/>
            <a:rect r="r" b="b" t="t" l="l"/>
            <a:pathLst>
              <a:path h="5691769" w="4398185">
                <a:moveTo>
                  <a:pt x="0" y="0"/>
                </a:moveTo>
                <a:lnTo>
                  <a:pt x="4398184" y="0"/>
                </a:lnTo>
                <a:lnTo>
                  <a:pt x="4398184" y="5691769"/>
                </a:lnTo>
                <a:lnTo>
                  <a:pt x="0" y="569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8098" y="2120036"/>
            <a:ext cx="11373938" cy="236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PASSWORD SECURITY + PDF REPORTS</a:t>
            </a:r>
          </a:p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Password Analysis &amp; Reporting</a:t>
            </a:r>
          </a:p>
          <a:p>
            <a:pPr algn="l" marL="0" indent="0" lvl="1">
              <a:lnSpc>
                <a:spcPts val="566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98098" y="4239809"/>
            <a:ext cx="6681152" cy="214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Password Security Analyzer</a:t>
            </a:r>
          </a:p>
          <a:p>
            <a:pPr algn="l" marL="530086" indent="-265043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Password strength estimation</a:t>
            </a:r>
          </a:p>
          <a:p>
            <a:pPr algn="l" marL="530086" indent="-265043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Breach detection using PwnedPasswords</a:t>
            </a:r>
          </a:p>
          <a:p>
            <a:pPr algn="l" marL="530086" indent="-265043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Improvement suggestions</a:t>
            </a:r>
          </a:p>
          <a:p>
            <a:pPr algn="l">
              <a:lnSpc>
                <a:spcPts val="343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613841" y="4239809"/>
            <a:ext cx="6681152" cy="257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Automated PDF Reporting</a:t>
            </a:r>
          </a:p>
          <a:p>
            <a:pPr algn="l" marL="530086" indent="-265043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Consolidated findings</a:t>
            </a:r>
          </a:p>
          <a:p>
            <a:pPr algn="l" marL="530086" indent="-265043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Executive summary</a:t>
            </a:r>
          </a:p>
          <a:p>
            <a:pPr algn="l" marL="530086" indent="-265043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Risk ratings</a:t>
            </a:r>
          </a:p>
          <a:p>
            <a:pPr algn="l" marL="530086" indent="-265043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Professional audit format</a:t>
            </a:r>
          </a:p>
          <a:p>
            <a:pPr algn="l">
              <a:lnSpc>
                <a:spcPts val="343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79386" y="458346"/>
            <a:ext cx="13011361" cy="8799954"/>
          </a:xfrm>
          <a:custGeom>
            <a:avLst/>
            <a:gdLst/>
            <a:ahLst/>
            <a:cxnLst/>
            <a:rect r="r" b="b" t="t" l="l"/>
            <a:pathLst>
              <a:path h="8799954" w="13011361">
                <a:moveTo>
                  <a:pt x="0" y="0"/>
                </a:moveTo>
                <a:lnTo>
                  <a:pt x="13011361" y="0"/>
                </a:lnTo>
                <a:lnTo>
                  <a:pt x="13011361" y="8799954"/>
                </a:lnTo>
                <a:lnTo>
                  <a:pt x="0" y="8799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72036" y="4737786"/>
            <a:ext cx="5146896" cy="5549214"/>
          </a:xfrm>
          <a:custGeom>
            <a:avLst/>
            <a:gdLst/>
            <a:ahLst/>
            <a:cxnLst/>
            <a:rect r="r" b="b" t="t" l="l"/>
            <a:pathLst>
              <a:path h="5549214" w="5146896">
                <a:moveTo>
                  <a:pt x="0" y="0"/>
                </a:moveTo>
                <a:lnTo>
                  <a:pt x="5146895" y="0"/>
                </a:lnTo>
                <a:lnTo>
                  <a:pt x="5146895" y="5549214"/>
                </a:lnTo>
                <a:lnTo>
                  <a:pt x="0" y="5549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8294" y="2003907"/>
            <a:ext cx="11373938" cy="236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TESTING &amp; RESULTS</a:t>
            </a:r>
          </a:p>
          <a:p>
            <a:pPr algn="l">
              <a:lnSpc>
                <a:spcPts val="5660"/>
              </a:lnSpc>
            </a:pPr>
            <a:r>
              <a:rPr lang="en-US" sz="6903" spc="-241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Testing &amp; Demonstration</a:t>
            </a:r>
          </a:p>
          <a:p>
            <a:pPr algn="l" marL="0" indent="0" lvl="1">
              <a:lnSpc>
                <a:spcPts val="566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98294" y="3981798"/>
            <a:ext cx="7866480" cy="303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63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Test Targets Used</a:t>
            </a:r>
          </a:p>
          <a:p>
            <a:pPr algn="l" marL="569129" indent="-284564" lvl="1">
              <a:lnSpc>
                <a:spcPts val="3690"/>
              </a:lnSpc>
              <a:buFont typeface="Arial"/>
              <a:buChar char="•"/>
            </a:pPr>
            <a:r>
              <a:rPr lang="en-US" b="true" sz="263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scanme.nmap.org</a:t>
            </a:r>
          </a:p>
          <a:p>
            <a:pPr algn="l" marL="569129" indent="-284564" lvl="1">
              <a:lnSpc>
                <a:spcPts val="3690"/>
              </a:lnSpc>
              <a:buFont typeface="Arial"/>
              <a:buChar char="•"/>
            </a:pPr>
            <a:r>
              <a:rPr lang="en-US" b="true" sz="263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testphp.vulnweb.com</a:t>
            </a:r>
          </a:p>
          <a:p>
            <a:pPr algn="l" marL="569129" indent="-284564" lvl="1">
              <a:lnSpc>
                <a:spcPts val="3690"/>
              </a:lnSpc>
              <a:buFont typeface="Arial"/>
              <a:buChar char="•"/>
            </a:pPr>
            <a:r>
              <a:rPr lang="en-US" b="true" sz="263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localhost</a:t>
            </a:r>
          </a:p>
          <a:p>
            <a:pPr algn="l" marL="569129" indent="-284564" lvl="1">
              <a:lnSpc>
                <a:spcPts val="3690"/>
              </a:lnSpc>
              <a:buFont typeface="Arial"/>
              <a:buChar char="•"/>
            </a:pPr>
            <a:r>
              <a:rPr lang="en-US" b="true" sz="263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Dummy phishing headers</a:t>
            </a:r>
          </a:p>
          <a:p>
            <a:pPr algn="l">
              <a:lnSpc>
                <a:spcPts val="3690"/>
              </a:lnSpc>
            </a:pPr>
          </a:p>
          <a:p>
            <a:pPr algn="l">
              <a:lnSpc>
                <a:spcPts val="187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617991" y="3981798"/>
            <a:ext cx="6247722" cy="318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34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Key Results</a:t>
            </a:r>
          </a:p>
          <a:p>
            <a:pPr algn="l" marL="506603" indent="-253302" lvl="1">
              <a:lnSpc>
                <a:spcPts val="3285"/>
              </a:lnSpc>
              <a:buFont typeface="Arial"/>
              <a:buChar char="•"/>
            </a:pPr>
            <a:r>
              <a:rPr lang="en-US" b="true" sz="23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Successful port detection</a:t>
            </a:r>
          </a:p>
          <a:p>
            <a:pPr algn="l" marL="506603" indent="-253302" lvl="1">
              <a:lnSpc>
                <a:spcPts val="3285"/>
              </a:lnSpc>
              <a:buFont typeface="Arial"/>
              <a:buChar char="•"/>
            </a:pPr>
            <a:r>
              <a:rPr lang="en-US" b="true" sz="23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Threat intelligence working</a:t>
            </a:r>
          </a:p>
          <a:p>
            <a:pPr algn="l" marL="506603" indent="-253302" lvl="1">
              <a:lnSpc>
                <a:spcPts val="3285"/>
              </a:lnSpc>
              <a:buFont typeface="Arial"/>
              <a:buChar char="•"/>
            </a:pPr>
            <a:r>
              <a:rPr lang="en-US" b="true" sz="23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Vulnerability identification successful</a:t>
            </a:r>
          </a:p>
          <a:p>
            <a:pPr algn="l" marL="506603" indent="-253302" lvl="1">
              <a:lnSpc>
                <a:spcPts val="3285"/>
              </a:lnSpc>
              <a:buFont typeface="Arial"/>
              <a:buChar char="•"/>
            </a:pPr>
            <a:r>
              <a:rPr lang="en-US" b="true" sz="23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Accurate phishing detection</a:t>
            </a:r>
          </a:p>
          <a:p>
            <a:pPr algn="l" marL="506603" indent="-253302" lvl="1">
              <a:lnSpc>
                <a:spcPts val="3285"/>
              </a:lnSpc>
              <a:buFont typeface="Arial"/>
              <a:buChar char="•"/>
            </a:pPr>
            <a:r>
              <a:rPr lang="en-US" b="true" sz="23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PDF report generation successful</a:t>
            </a:r>
          </a:p>
          <a:p>
            <a:pPr algn="l">
              <a:lnSpc>
                <a:spcPts val="598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79386" y="458346"/>
            <a:ext cx="13011361" cy="8799954"/>
          </a:xfrm>
          <a:custGeom>
            <a:avLst/>
            <a:gdLst/>
            <a:ahLst/>
            <a:cxnLst/>
            <a:rect r="r" b="b" t="t" l="l"/>
            <a:pathLst>
              <a:path h="8799954" w="13011361">
                <a:moveTo>
                  <a:pt x="0" y="0"/>
                </a:moveTo>
                <a:lnTo>
                  <a:pt x="13011361" y="0"/>
                </a:lnTo>
                <a:lnTo>
                  <a:pt x="13011361" y="8799954"/>
                </a:lnTo>
                <a:lnTo>
                  <a:pt x="0" y="8799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59444" y="4038948"/>
            <a:ext cx="5010739" cy="5921110"/>
          </a:xfrm>
          <a:custGeom>
            <a:avLst/>
            <a:gdLst/>
            <a:ahLst/>
            <a:cxnLst/>
            <a:rect r="r" b="b" t="t" l="l"/>
            <a:pathLst>
              <a:path h="5921110" w="5010739">
                <a:moveTo>
                  <a:pt x="0" y="0"/>
                </a:moveTo>
                <a:lnTo>
                  <a:pt x="5010739" y="0"/>
                </a:lnTo>
                <a:lnTo>
                  <a:pt x="5010739" y="5921109"/>
                </a:lnTo>
                <a:lnTo>
                  <a:pt x="0" y="5921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35240" y="2150788"/>
            <a:ext cx="10053212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SECURITY, ETHICS &amp; FUTURE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240" y="3419409"/>
            <a:ext cx="4757728" cy="291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Ethical Practices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Authorized scanning only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Privacy-focused design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exploitation features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Secure API key handling</a:t>
            </a:r>
          </a:p>
          <a:p>
            <a:pPr algn="l">
              <a:lnSpc>
                <a:spcPts val="386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765136" y="3419409"/>
            <a:ext cx="4757728" cy="388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Future Enhancements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scan tracking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CVE database integration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authentication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Scan history database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MITRE ATT&amp;CK integration</a:t>
            </a:r>
          </a:p>
          <a:p>
            <a:pPr algn="l">
              <a:lnSpc>
                <a:spcPts val="386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79386" y="458346"/>
            <a:ext cx="13011361" cy="8799954"/>
          </a:xfrm>
          <a:custGeom>
            <a:avLst/>
            <a:gdLst/>
            <a:ahLst/>
            <a:cxnLst/>
            <a:rect r="r" b="b" t="t" l="l"/>
            <a:pathLst>
              <a:path h="8799954" w="13011361">
                <a:moveTo>
                  <a:pt x="0" y="0"/>
                </a:moveTo>
                <a:lnTo>
                  <a:pt x="13011361" y="0"/>
                </a:lnTo>
                <a:lnTo>
                  <a:pt x="13011361" y="8799954"/>
                </a:lnTo>
                <a:lnTo>
                  <a:pt x="0" y="8799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88093" y="3128793"/>
            <a:ext cx="3633532" cy="7137294"/>
          </a:xfrm>
          <a:custGeom>
            <a:avLst/>
            <a:gdLst/>
            <a:ahLst/>
            <a:cxnLst/>
            <a:rect r="r" b="b" t="t" l="l"/>
            <a:pathLst>
              <a:path h="7137294" w="3633532">
                <a:moveTo>
                  <a:pt x="0" y="0"/>
                </a:moveTo>
                <a:lnTo>
                  <a:pt x="3633532" y="0"/>
                </a:lnTo>
                <a:lnTo>
                  <a:pt x="3633532" y="7137295"/>
                </a:lnTo>
                <a:lnTo>
                  <a:pt x="0" y="71372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4" r="0" b="-175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2209" y="2007303"/>
            <a:ext cx="8761851" cy="97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906"/>
              </a:lnSpc>
              <a:spcBef>
                <a:spcPct val="0"/>
              </a:spcBef>
            </a:pPr>
            <a:r>
              <a:rPr lang="en-US" sz="7203" spc="-252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2209" y="3102403"/>
            <a:ext cx="12410236" cy="401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CyberGuard Pro successfully integrates multiple cybersecurity domains into one unified platform.</a:t>
            </a: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project demonstrates: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Practical cybersecurity implementation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Full-stack development skills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Ethical security practices</a:t>
            </a:r>
          </a:p>
          <a:p>
            <a:pPr algn="l" marL="595610" indent="-297805" lvl="1">
              <a:lnSpc>
                <a:spcPts val="3862"/>
              </a:lnSpc>
              <a:buFont typeface="Arial"/>
              <a:buChar char="•"/>
            </a:pPr>
            <a:r>
              <a:rPr lang="en-US" sz="27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Real-world security analysis capabilities</a:t>
            </a:r>
          </a:p>
          <a:p>
            <a:pPr algn="l">
              <a:lnSpc>
                <a:spcPts val="4982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21084" y="267033"/>
            <a:ext cx="13011361" cy="8799954"/>
          </a:xfrm>
          <a:custGeom>
            <a:avLst/>
            <a:gdLst/>
            <a:ahLst/>
            <a:cxnLst/>
            <a:rect r="r" b="b" t="t" l="l"/>
            <a:pathLst>
              <a:path h="8799954" w="13011361">
                <a:moveTo>
                  <a:pt x="0" y="0"/>
                </a:moveTo>
                <a:lnTo>
                  <a:pt x="13011361" y="0"/>
                </a:lnTo>
                <a:lnTo>
                  <a:pt x="13011361" y="8799954"/>
                </a:lnTo>
                <a:lnTo>
                  <a:pt x="0" y="8799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077008" y="4286252"/>
            <a:ext cx="6864144" cy="5499895"/>
          </a:xfrm>
          <a:custGeom>
            <a:avLst/>
            <a:gdLst/>
            <a:ahLst/>
            <a:cxnLst/>
            <a:rect r="r" b="b" t="t" l="l"/>
            <a:pathLst>
              <a:path h="5499895" w="6864144">
                <a:moveTo>
                  <a:pt x="6864144" y="0"/>
                </a:moveTo>
                <a:lnTo>
                  <a:pt x="0" y="0"/>
                </a:lnTo>
                <a:lnTo>
                  <a:pt x="0" y="5499895"/>
                </a:lnTo>
                <a:lnTo>
                  <a:pt x="6864144" y="5499895"/>
                </a:lnTo>
                <a:lnTo>
                  <a:pt x="686414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46" r="0" b="-687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43272"/>
            <a:ext cx="15461730" cy="385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46"/>
              </a:lnSpc>
            </a:pPr>
            <a:r>
              <a:rPr lang="en-US" sz="28471" spc="-996">
                <a:solidFill>
                  <a:srgbClr val="00D9FF"/>
                </a:solidFill>
                <a:latin typeface="Cheddar"/>
                <a:ea typeface="Cheddar"/>
                <a:cs typeface="Cheddar"/>
                <a:sym typeface="Cheddar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698132" y="6122370"/>
            <a:ext cx="8891736" cy="4678186"/>
          </a:xfrm>
          <a:custGeom>
            <a:avLst/>
            <a:gdLst/>
            <a:ahLst/>
            <a:cxnLst/>
            <a:rect r="r" b="b" t="t" l="l"/>
            <a:pathLst>
              <a:path h="4678186" w="8891736">
                <a:moveTo>
                  <a:pt x="0" y="0"/>
                </a:moveTo>
                <a:lnTo>
                  <a:pt x="8891736" y="0"/>
                </a:lnTo>
                <a:lnTo>
                  <a:pt x="8891736" y="4678186"/>
                </a:lnTo>
                <a:lnTo>
                  <a:pt x="0" y="4678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DAHKGiMG8oo</dc:identifier>
  <dcterms:modified xsi:type="dcterms:W3CDTF">2011-08-01T06:04:30Z</dcterms:modified>
  <cp:revision>1</cp:revision>
  <dc:title>CyberGuard Pro</dc:title>
</cp:coreProperties>
</file>